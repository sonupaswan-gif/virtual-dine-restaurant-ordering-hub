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314" r:id="rId3"/>
    <p:sldId id="323" r:id="rId4"/>
    <p:sldId id="266" r:id="rId5"/>
    <p:sldId id="341" r:id="rId6"/>
    <p:sldId id="342" r:id="rId7"/>
    <p:sldId id="343" r:id="rId8"/>
    <p:sldId id="349" r:id="rId9"/>
    <p:sldId id="344" r:id="rId10"/>
    <p:sldId id="346" r:id="rId11"/>
    <p:sldId id="340" r:id="rId12"/>
    <p:sldId id="350" r:id="rId13"/>
    <p:sldId id="351" r:id="rId14"/>
    <p:sldId id="347"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Virtual Dine Restaurant Ordering Hub</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Sonu Paswan</a:t>
            </a:r>
          </a:p>
          <a:p>
            <a:pPr marL="0" indent="0" algn="ctr">
              <a:buNone/>
            </a:pPr>
            <a:r>
              <a:rPr lang="en-US" sz="9600" dirty="0"/>
              <a:t>Student ID: 2520090204</a:t>
            </a:r>
            <a:endParaRPr lang="en-US" sz="2400" dirty="0"/>
          </a:p>
          <a:p>
            <a:pPr marL="0" indent="0" algn="ctr">
              <a:buNone/>
            </a:pPr>
            <a:r>
              <a:rPr lang="en-US" sz="11200" dirty="0"/>
              <a:t>Cluster:01</a:t>
            </a:r>
          </a:p>
          <a:p>
            <a:pPr marL="0" indent="0" algn="ctr">
              <a:buNone/>
            </a:pPr>
            <a:r>
              <a:rPr lang="en-US" sz="11200" dirty="0"/>
              <a:t>Section: 01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K.Rajesh</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205274"/>
            <a:ext cx="10173182" cy="986940"/>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111268" y="1334278"/>
            <a:ext cx="9969464" cy="4805363"/>
          </a:xfrm>
        </p:spPr>
        <p:txBody>
          <a:bodyPr>
            <a:normAutofit fontScale="92500" lnSpcReduction="10000"/>
          </a:bodyPr>
          <a:lstStyle/>
          <a:p>
            <a:r>
              <a:rPr lang="en-US" dirty="0"/>
              <a:t>The </a:t>
            </a:r>
            <a:r>
              <a:rPr lang="en-US" b="1" dirty="0"/>
              <a:t>Virtual Dine Restaurant Ordering Hub</a:t>
            </a:r>
            <a:r>
              <a:rPr lang="en-US" dirty="0"/>
              <a:t> is a Java-based application developed to simulate a digital restaurant ordering system while demonstrating the practical implementation of Data Structures and Algorithms (DSA). The system allows users to view menu items, add food to the cart, and place orders efficiently. It integrates core DSA concepts such as linked lists, stacks, queues, and hashing to manage menu data and customer orders effectively.</a:t>
            </a:r>
          </a:p>
          <a:p>
            <a:r>
              <a:rPr lang="en-US" dirty="0"/>
              <a:t>This project focuses on applying algorithm analysis and abstract data types (ADTs) to build a structured and efficient ordering platform. By combining Java programming with real-world restaurant scenarios, the system helps in understanding how data structures can be used to organize, process, and retrieve information efficiently in practical applications.</a:t>
            </a: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82351" y="1604865"/>
            <a:ext cx="10067731" cy="4572098"/>
          </a:xfrm>
        </p:spPr>
        <p:txBody>
          <a:bodyPr>
            <a:normAutofit/>
          </a:bodyPr>
          <a:lstStyle/>
          <a:p>
            <a:r>
              <a:rPr lang="en-US" dirty="0"/>
              <a:t>In traditional restaurant systems:</a:t>
            </a:r>
          </a:p>
          <a:p>
            <a:r>
              <a:rPr lang="en-US" dirty="0"/>
              <a:t>Customers need to </a:t>
            </a:r>
            <a:r>
              <a:rPr lang="en-US" b="1" dirty="0"/>
              <a:t>physically visit the restaurant</a:t>
            </a:r>
            <a:r>
              <a:rPr lang="en-US" dirty="0"/>
              <a:t> to place orders.</a:t>
            </a:r>
          </a:p>
          <a:p>
            <a:r>
              <a:rPr lang="en-US" dirty="0"/>
              <a:t>Menu browsing is done </a:t>
            </a:r>
            <a:r>
              <a:rPr lang="en-US" b="1" dirty="0"/>
              <a:t>manually using printed menus</a:t>
            </a:r>
            <a:r>
              <a:rPr lang="en-US" dirty="0"/>
              <a:t>.</a:t>
            </a:r>
          </a:p>
          <a:p>
            <a:r>
              <a:rPr lang="en-US" dirty="0"/>
              <a:t>There is </a:t>
            </a:r>
            <a:r>
              <a:rPr lang="en-US" b="1" dirty="0"/>
              <a:t>no digital room selection system</a:t>
            </a:r>
            <a:r>
              <a:rPr lang="en-US" dirty="0"/>
              <a:t>.</a:t>
            </a:r>
          </a:p>
          <a:p>
            <a:r>
              <a:rPr lang="en-US" dirty="0"/>
              <a:t>Food ordering requires </a:t>
            </a:r>
            <a:r>
              <a:rPr lang="en-US" b="1" dirty="0"/>
              <a:t>waiter interaction</a:t>
            </a:r>
            <a:r>
              <a:rPr lang="en-US" dirty="0"/>
              <a:t>.</a:t>
            </a:r>
          </a:p>
          <a:p>
            <a:r>
              <a:rPr lang="en-US" dirty="0"/>
              <a:t>Order management is </a:t>
            </a:r>
            <a:r>
              <a:rPr lang="en-US" b="1" dirty="0"/>
              <a:t>not automated</a:t>
            </a:r>
            <a:r>
              <a:rPr lang="en-US" dirty="0"/>
              <a:t>.</a:t>
            </a:r>
          </a:p>
          <a:p>
            <a:r>
              <a:rPr lang="en-US" dirty="0"/>
              <a:t>These limitations make the process slower and less efficient for both customers and restaurant staff.</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651518"/>
            <a:ext cx="10515600" cy="4525445"/>
          </a:xfrm>
        </p:spPr>
        <p:txBody>
          <a:bodyPr>
            <a:normAutofit fontScale="92500" lnSpcReduction="10000"/>
          </a:bodyPr>
          <a:lstStyle/>
          <a:p>
            <a:r>
              <a:rPr lang="en-US" dirty="0"/>
              <a:t>The </a:t>
            </a:r>
            <a:r>
              <a:rPr lang="en-US" b="1" dirty="0"/>
              <a:t>Virtual Dine system</a:t>
            </a:r>
            <a:r>
              <a:rPr lang="en-US" dirty="0"/>
              <a:t> provides a modern solution for restaurant ordering.</a:t>
            </a:r>
          </a:p>
          <a:p>
            <a:r>
              <a:rPr lang="en-US" dirty="0"/>
              <a:t>Features include:</a:t>
            </a:r>
          </a:p>
          <a:p>
            <a:r>
              <a:rPr lang="en-US" dirty="0"/>
              <a:t>Digital </a:t>
            </a:r>
            <a:r>
              <a:rPr lang="en-US" b="1" dirty="0"/>
              <a:t>room selection system</a:t>
            </a:r>
            <a:r>
              <a:rPr lang="en-US" dirty="0"/>
              <a:t> (Couple Room, Family Room, Regular Table).</a:t>
            </a:r>
          </a:p>
          <a:p>
            <a:r>
              <a:rPr lang="en-US" b="1" dirty="0"/>
              <a:t>Multiple cuisine filtering</a:t>
            </a:r>
            <a:r>
              <a:rPr lang="en-US" dirty="0"/>
              <a:t> such as Italian, Indian, Chinese, etc.</a:t>
            </a:r>
          </a:p>
          <a:p>
            <a:r>
              <a:rPr lang="en-US" b="1" dirty="0"/>
              <a:t>Dynamic food menu display</a:t>
            </a:r>
            <a:r>
              <a:rPr lang="en-US" dirty="0"/>
              <a:t>.</a:t>
            </a:r>
          </a:p>
          <a:p>
            <a:r>
              <a:rPr lang="en-US" dirty="0"/>
              <a:t>Users can </a:t>
            </a:r>
            <a:r>
              <a:rPr lang="en-US" b="1" dirty="0"/>
              <a:t>add or remove items from cart</a:t>
            </a:r>
            <a:r>
              <a:rPr lang="en-US" dirty="0"/>
              <a:t>.</a:t>
            </a:r>
          </a:p>
          <a:p>
            <a:r>
              <a:rPr lang="en-US" b="1" dirty="0"/>
              <a:t>Automatic total price calculation</a:t>
            </a:r>
            <a:r>
              <a:rPr lang="en-US" dirty="0"/>
              <a:t>.</a:t>
            </a:r>
          </a:p>
          <a:p>
            <a:r>
              <a:rPr lang="en-US" dirty="0"/>
              <a:t>Simple and </a:t>
            </a:r>
            <a:r>
              <a:rPr lang="en-US" b="1" dirty="0"/>
              <a:t>interactive user interface</a:t>
            </a:r>
            <a:r>
              <a:rPr lang="en-US" dirty="0"/>
              <a:t>.</a:t>
            </a:r>
          </a:p>
          <a:p>
            <a:r>
              <a:rPr lang="en-US" dirty="0"/>
              <a:t>This system improves the </a:t>
            </a:r>
            <a:r>
              <a:rPr lang="en-US" b="1" dirty="0"/>
              <a:t>user experience and ordering efficiency</a:t>
            </a:r>
            <a:r>
              <a:rPr lang="en-US" dirty="0"/>
              <a:t>.</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fontScale="70000" lnSpcReduction="20000"/>
          </a:bodyPr>
          <a:lstStyle/>
          <a:p>
            <a:r>
              <a:rPr lang="en-IN" dirty="0"/>
              <a:t>The system follows a </a:t>
            </a:r>
            <a:r>
              <a:rPr lang="en-IN" b="1" dirty="0"/>
              <a:t>client-side web architecture</a:t>
            </a:r>
            <a:r>
              <a:rPr lang="en-IN" dirty="0"/>
              <a:t>.</a:t>
            </a:r>
          </a:p>
          <a:p>
            <a:r>
              <a:rPr lang="en-IN" dirty="0"/>
              <a:t>Main components:</a:t>
            </a:r>
          </a:p>
          <a:p>
            <a:r>
              <a:rPr lang="en-IN" b="1" dirty="0"/>
              <a:t>Frontend Layer</a:t>
            </a:r>
            <a:endParaRPr lang="en-IN" dirty="0"/>
          </a:p>
          <a:p>
            <a:r>
              <a:rPr lang="en-IN" dirty="0"/>
              <a:t>HTML – Structure of the webpage</a:t>
            </a:r>
          </a:p>
          <a:p>
            <a:r>
              <a:rPr lang="en-IN" dirty="0"/>
              <a:t>CSS – Styling and layout design</a:t>
            </a:r>
          </a:p>
          <a:p>
            <a:r>
              <a:rPr lang="en-IN" b="1" dirty="0"/>
              <a:t>Application Logic Layer</a:t>
            </a:r>
            <a:endParaRPr lang="en-IN" dirty="0"/>
          </a:p>
          <a:p>
            <a:r>
              <a:rPr lang="en-IN" dirty="0"/>
              <a:t>Java handles:</a:t>
            </a:r>
          </a:p>
          <a:p>
            <a:pPr lvl="1"/>
            <a:r>
              <a:rPr lang="en-IN" dirty="0"/>
              <a:t>Room selection</a:t>
            </a:r>
          </a:p>
          <a:p>
            <a:pPr lvl="1"/>
            <a:r>
              <a:rPr lang="en-IN" dirty="0"/>
              <a:t>Cuisine filtering</a:t>
            </a:r>
          </a:p>
          <a:p>
            <a:pPr lvl="1"/>
            <a:r>
              <a:rPr lang="en-IN" dirty="0"/>
              <a:t>Cart management</a:t>
            </a:r>
          </a:p>
          <a:p>
            <a:pPr lvl="1"/>
            <a:r>
              <a:rPr lang="en-IN" dirty="0"/>
              <a:t>Order placement</a:t>
            </a:r>
          </a:p>
          <a:p>
            <a:r>
              <a:rPr lang="en-IN" b="1" dirty="0"/>
              <a:t>Data Handling</a:t>
            </a:r>
            <a:endParaRPr lang="en-IN" dirty="0"/>
          </a:p>
          <a:p>
            <a:r>
              <a:rPr lang="en-IN" dirty="0"/>
              <a:t>Food items stored using </a:t>
            </a:r>
            <a:r>
              <a:rPr lang="en-IN" b="1" dirty="0"/>
              <a:t>Java arrays and objects</a:t>
            </a:r>
            <a:endParaRPr lang="en-IN" dirty="0"/>
          </a:p>
          <a:p>
            <a:r>
              <a:rPr lang="en-IN" dirty="0"/>
              <a:t>Cart data stored using </a:t>
            </a:r>
            <a:r>
              <a:rPr lang="en-IN" b="1" dirty="0"/>
              <a:t>Local Storage</a:t>
            </a:r>
            <a:endParaRPr lang="en-IN" dirty="0"/>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47500" lnSpcReduction="20000"/>
          </a:bodyPr>
          <a:lstStyle/>
          <a:p>
            <a:r>
              <a:rPr lang="en-US" dirty="0"/>
              <a:t>The project is divided into the following modules:</a:t>
            </a:r>
          </a:p>
          <a:p>
            <a:r>
              <a:rPr lang="en-US" b="1" dirty="0"/>
              <a:t>1. Room Selection Module</a:t>
            </a:r>
          </a:p>
          <a:p>
            <a:r>
              <a:rPr lang="en-US" dirty="0"/>
              <a:t>Allows users to select:</a:t>
            </a:r>
          </a:p>
          <a:p>
            <a:r>
              <a:rPr lang="en-US" dirty="0"/>
              <a:t>Couple Room</a:t>
            </a:r>
          </a:p>
          <a:p>
            <a:r>
              <a:rPr lang="en-US" dirty="0"/>
              <a:t>Family Room</a:t>
            </a:r>
          </a:p>
          <a:p>
            <a:r>
              <a:rPr lang="en-US" dirty="0"/>
              <a:t>Regular Table</a:t>
            </a:r>
          </a:p>
          <a:p>
            <a:r>
              <a:rPr lang="en-US" b="1" dirty="0"/>
              <a:t>2. Cuisine Filtering Module</a:t>
            </a:r>
          </a:p>
          <a:p>
            <a:r>
              <a:rPr lang="en-US" dirty="0"/>
              <a:t>Users can filter food based on cuisine types:</a:t>
            </a:r>
          </a:p>
          <a:p>
            <a:r>
              <a:rPr lang="en-US" dirty="0"/>
              <a:t>Italian</a:t>
            </a:r>
          </a:p>
          <a:p>
            <a:r>
              <a:rPr lang="en-US" dirty="0"/>
              <a:t>Indian</a:t>
            </a:r>
          </a:p>
          <a:p>
            <a:r>
              <a:rPr lang="en-US" dirty="0"/>
              <a:t>Chinese</a:t>
            </a:r>
          </a:p>
          <a:p>
            <a:r>
              <a:rPr lang="en-US" dirty="0"/>
              <a:t>Mexican</a:t>
            </a:r>
          </a:p>
          <a:p>
            <a:r>
              <a:rPr lang="en-US" dirty="0"/>
              <a:t>Japanese</a:t>
            </a:r>
          </a:p>
          <a:p>
            <a:r>
              <a:rPr lang="en-US" dirty="0"/>
              <a:t>Thai</a:t>
            </a:r>
          </a:p>
          <a:p>
            <a:r>
              <a:rPr lang="en-US" dirty="0"/>
              <a:t>Mediterranean</a:t>
            </a:r>
          </a:p>
          <a:p>
            <a:r>
              <a:rPr lang="en-US" dirty="0"/>
              <a:t>Indo-Chinese</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639F86-666C-CEBA-2CD6-33A9D91BB4A8}"/>
              </a:ext>
            </a:extLst>
          </p:cNvPr>
          <p:cNvSpPr>
            <a:spLocks noGrp="1"/>
          </p:cNvSpPr>
          <p:nvPr>
            <p:ph type="title"/>
          </p:nvPr>
        </p:nvSpPr>
        <p:spPr>
          <a:xfrm>
            <a:off x="838200" y="-895740"/>
            <a:ext cx="10515600" cy="438539"/>
          </a:xfrm>
        </p:spPr>
        <p:txBody>
          <a:bodyPr>
            <a:normAutofit fontScale="90000"/>
          </a:bodyPr>
          <a:lstStyle/>
          <a:p>
            <a:endParaRPr lang="en-IN" dirty="0"/>
          </a:p>
        </p:txBody>
      </p:sp>
      <p:sp>
        <p:nvSpPr>
          <p:cNvPr id="8" name="Content Placeholder 7">
            <a:extLst>
              <a:ext uri="{FF2B5EF4-FFF2-40B4-BE49-F238E27FC236}">
                <a16:creationId xmlns:a16="http://schemas.microsoft.com/office/drawing/2014/main" id="{D60ADA25-7C21-FC59-D937-E19D680AB18B}"/>
              </a:ext>
            </a:extLst>
          </p:cNvPr>
          <p:cNvSpPr>
            <a:spLocks noGrp="1"/>
          </p:cNvSpPr>
          <p:nvPr>
            <p:ph idx="1"/>
          </p:nvPr>
        </p:nvSpPr>
        <p:spPr>
          <a:xfrm>
            <a:off x="632926" y="797768"/>
            <a:ext cx="10515600" cy="5262464"/>
          </a:xfrm>
        </p:spPr>
        <p:txBody>
          <a:bodyPr>
            <a:normAutofit fontScale="92500" lnSpcReduction="20000"/>
          </a:bodyPr>
          <a:lstStyle/>
          <a:p>
            <a:r>
              <a:rPr lang="en-US" b="1" dirty="0"/>
              <a:t>3. Food Display Module</a:t>
            </a:r>
          </a:p>
          <a:p>
            <a:r>
              <a:rPr lang="en-US" dirty="0"/>
              <a:t>Displays food cards containing:</a:t>
            </a:r>
          </a:p>
          <a:p>
            <a:r>
              <a:rPr lang="en-US" dirty="0"/>
              <a:t>Food Image</a:t>
            </a:r>
          </a:p>
          <a:p>
            <a:r>
              <a:rPr lang="en-US" dirty="0"/>
              <a:t>Food Name</a:t>
            </a:r>
          </a:p>
          <a:p>
            <a:r>
              <a:rPr lang="en-US" dirty="0"/>
              <a:t>Price</a:t>
            </a:r>
          </a:p>
          <a:p>
            <a:r>
              <a:rPr lang="en-US" dirty="0"/>
              <a:t>Add to Cart button</a:t>
            </a:r>
          </a:p>
          <a:p>
            <a:r>
              <a:rPr lang="en-US" b="1" dirty="0"/>
              <a:t>4. Cart Management Module</a:t>
            </a:r>
          </a:p>
          <a:p>
            <a:r>
              <a:rPr lang="en-US" dirty="0"/>
              <a:t>Handles:</a:t>
            </a:r>
          </a:p>
          <a:p>
            <a:r>
              <a:rPr lang="en-US" dirty="0"/>
              <a:t>Adding items to cart</a:t>
            </a:r>
          </a:p>
          <a:p>
            <a:r>
              <a:rPr lang="en-US" dirty="0"/>
              <a:t>Removing items from cart</a:t>
            </a:r>
          </a:p>
          <a:p>
            <a:r>
              <a:rPr lang="en-US" dirty="0"/>
              <a:t>Total price calculation</a:t>
            </a:r>
          </a:p>
          <a:p>
            <a:r>
              <a:rPr lang="en-US" b="1" dirty="0"/>
              <a:t>5. Order Placement Module</a:t>
            </a:r>
          </a:p>
          <a:p>
            <a:r>
              <a:rPr lang="en-US" dirty="0"/>
              <a:t>Allows users to confirm and place the final order.</a:t>
            </a:r>
          </a:p>
          <a:p>
            <a:endParaRPr lang="en-IN" dirty="0"/>
          </a:p>
        </p:txBody>
      </p:sp>
      <p:sp>
        <p:nvSpPr>
          <p:cNvPr id="4" name="Date Placeholder 3">
            <a:extLst>
              <a:ext uri="{FF2B5EF4-FFF2-40B4-BE49-F238E27FC236}">
                <a16:creationId xmlns:a16="http://schemas.microsoft.com/office/drawing/2014/main" id="{4E474880-3DE8-2C54-9AC0-9E8C13E9051D}"/>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6CBC089F-F9E0-D3E1-A1AF-5D847E0F04BF}"/>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2903826-D832-25B5-DD75-A5C32D1F6119}"/>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989600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642188"/>
            <a:ext cx="9836020" cy="4189445"/>
          </a:xfrm>
        </p:spPr>
        <p:txBody>
          <a:bodyPr>
            <a:normAutofit/>
          </a:bodyPr>
          <a:lstStyle/>
          <a:p>
            <a:r>
              <a:rPr lang="en-US" dirty="0"/>
              <a:t>The main objectives of the project are:</a:t>
            </a:r>
          </a:p>
          <a:p>
            <a:r>
              <a:rPr lang="en-US" dirty="0"/>
              <a:t>To design a </a:t>
            </a:r>
            <a:r>
              <a:rPr lang="en-US" b="1" dirty="0"/>
              <a:t>digital restaurant ordering system</a:t>
            </a:r>
            <a:r>
              <a:rPr lang="en-US" dirty="0"/>
              <a:t>.</a:t>
            </a:r>
          </a:p>
          <a:p>
            <a:r>
              <a:rPr lang="en-US" dirty="0"/>
              <a:t>To implement </a:t>
            </a:r>
            <a:r>
              <a:rPr lang="en-US" b="1" dirty="0"/>
              <a:t>room selection functionality</a:t>
            </a:r>
            <a:r>
              <a:rPr lang="en-US" dirty="0"/>
              <a:t>.</a:t>
            </a:r>
          </a:p>
          <a:p>
            <a:r>
              <a:rPr lang="en-US" dirty="0"/>
              <a:t>To allow users to </a:t>
            </a:r>
            <a:r>
              <a:rPr lang="en-US" b="1" dirty="0"/>
              <a:t>browse multiple cuisines</a:t>
            </a:r>
            <a:r>
              <a:rPr lang="en-US" dirty="0"/>
              <a:t>.</a:t>
            </a:r>
          </a:p>
          <a:p>
            <a:r>
              <a:rPr lang="en-US" dirty="0"/>
              <a:t>To develop a </a:t>
            </a:r>
            <a:r>
              <a:rPr lang="en-US" b="1" dirty="0"/>
              <a:t>dynamic food menu interface</a:t>
            </a:r>
            <a:r>
              <a:rPr lang="en-US" dirty="0"/>
              <a:t>.</a:t>
            </a:r>
          </a:p>
          <a:p>
            <a:r>
              <a:rPr lang="en-US" dirty="0"/>
              <a:t>To implement </a:t>
            </a:r>
            <a:r>
              <a:rPr lang="en-US" b="1" dirty="0"/>
              <a:t>cart management using JavaScript</a:t>
            </a:r>
            <a:r>
              <a:rPr lang="en-US" dirty="0"/>
              <a:t>.</a:t>
            </a:r>
          </a:p>
          <a:p>
            <a:r>
              <a:rPr lang="en-US" dirty="0"/>
              <a:t>To create an </a:t>
            </a:r>
            <a:r>
              <a:rPr lang="en-US" b="1" dirty="0"/>
              <a:t>interactive and responsive UI</a:t>
            </a:r>
            <a:r>
              <a:rPr lang="en-US" dirty="0"/>
              <a:t>.</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26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55000" lnSpcReduction="20000"/>
          </a:bodyPr>
          <a:lstStyle/>
          <a:p>
            <a:r>
              <a:rPr lang="en-US" b="1" dirty="0"/>
              <a:t>CO1 – Basic Data Structures</a:t>
            </a:r>
          </a:p>
          <a:p>
            <a:r>
              <a:rPr lang="en-US" dirty="0"/>
              <a:t>Understand the concepts of basic data structures such as </a:t>
            </a:r>
            <a:r>
              <a:rPr lang="en-US" b="1" dirty="0"/>
              <a:t>arrays, linked lists, stacks, and queues</a:t>
            </a:r>
            <a:r>
              <a:rPr lang="en-US" dirty="0"/>
              <a:t> and their applications in solving problems.</a:t>
            </a:r>
          </a:p>
          <a:p>
            <a:r>
              <a:rPr lang="en-US" b="1" dirty="0"/>
              <a:t>CO2 – Algorithm Design</a:t>
            </a:r>
          </a:p>
          <a:p>
            <a:r>
              <a:rPr lang="en-US" dirty="0"/>
              <a:t>Develop algorithms to solve computational problems and understand the </a:t>
            </a:r>
            <a:r>
              <a:rPr lang="en-US" b="1" dirty="0"/>
              <a:t>step-by-step procedure</a:t>
            </a:r>
            <a:r>
              <a:rPr lang="en-US" dirty="0"/>
              <a:t> for problem solving.</a:t>
            </a:r>
          </a:p>
          <a:p>
            <a:r>
              <a:rPr lang="en-US" b="1" dirty="0"/>
              <a:t>CO3 – Complexity Analysis</a:t>
            </a:r>
          </a:p>
          <a:p>
            <a:r>
              <a:rPr lang="en-US" dirty="0"/>
              <a:t>Analyze the </a:t>
            </a:r>
            <a:r>
              <a:rPr lang="en-US" b="1" dirty="0"/>
              <a:t>time complexity and space complexity</a:t>
            </a:r>
            <a:r>
              <a:rPr lang="en-US" dirty="0"/>
              <a:t> of algorithms using </a:t>
            </a:r>
            <a:r>
              <a:rPr lang="en-US" b="1" dirty="0"/>
              <a:t>Big-O notation</a:t>
            </a:r>
            <a:r>
              <a:rPr lang="en-US" dirty="0"/>
              <a:t> to determine efficiency.</a:t>
            </a:r>
          </a:p>
          <a:p>
            <a:r>
              <a:rPr lang="en-US" b="1" dirty="0"/>
              <a:t>CO4 – Implementation of Data Structures</a:t>
            </a:r>
          </a:p>
          <a:p>
            <a:r>
              <a:rPr lang="en-US" dirty="0"/>
              <a:t>Implement various data structures such as </a:t>
            </a:r>
            <a:r>
              <a:rPr lang="en-US" b="1" dirty="0"/>
              <a:t>stacks, queues, and linked lists</a:t>
            </a:r>
            <a:r>
              <a:rPr lang="en-US" dirty="0"/>
              <a:t> and perform operations like </a:t>
            </a:r>
            <a:r>
              <a:rPr lang="en-US" b="1" dirty="0"/>
              <a:t>insertion, deletion, and traversal</a:t>
            </a:r>
            <a:r>
              <a:rPr lang="en-US" dirty="0"/>
              <a:t>.</a:t>
            </a:r>
          </a:p>
          <a:p>
            <a:r>
              <a:rPr lang="en-US" b="1" dirty="0"/>
              <a:t>CO5 – Sorting and Searching Techniques</a:t>
            </a:r>
          </a:p>
          <a:p>
            <a:r>
              <a:rPr lang="en-US" dirty="0"/>
              <a:t>Apply different </a:t>
            </a:r>
            <a:r>
              <a:rPr lang="en-US" b="1" dirty="0"/>
              <a:t>sorting algorithms</a:t>
            </a:r>
            <a:r>
              <a:rPr lang="en-US" dirty="0"/>
              <a:t> (Bubble Sort, Selection Sort, Insertion Sort) and </a:t>
            </a:r>
            <a:r>
              <a:rPr lang="en-US" b="1" dirty="0"/>
              <a:t>searching techniques</a:t>
            </a:r>
            <a:r>
              <a:rPr lang="en-US" dirty="0"/>
              <a:t> (Linear Search, Binary Search) for efficient data processing.</a:t>
            </a:r>
          </a:p>
          <a:p>
            <a:r>
              <a:rPr lang="en-US" b="1" dirty="0"/>
              <a:t>CO6 – Problem Solving Using Data Structures</a:t>
            </a:r>
          </a:p>
          <a:p>
            <a:r>
              <a:rPr lang="en-US" dirty="0"/>
              <a:t>Apply suitable </a:t>
            </a:r>
            <a:r>
              <a:rPr lang="en-US" b="1" dirty="0"/>
              <a:t>data structures and algorithms</a:t>
            </a:r>
            <a:r>
              <a:rPr lang="en-US" dirty="0"/>
              <a:t> to solve real-world problems effectively and optimize program performance.</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1698171" y="345233"/>
            <a:ext cx="9599645" cy="1110343"/>
          </a:xfrm>
        </p:spPr>
        <p:txBody>
          <a:bodyPr>
            <a:normAutofit fontScale="90000"/>
          </a:bodyPr>
          <a:lstStyle/>
          <a:p>
            <a:r>
              <a:rPr lang="en-US" dirty="0"/>
              <a:t>Screenshots for DSA</a:t>
            </a:r>
            <a:br>
              <a:rPr lang="en-US" dirty="0"/>
            </a:br>
            <a:r>
              <a:rPr lang="en-US" dirty="0"/>
              <a:t>      </a:t>
            </a:r>
            <a:r>
              <a:rPr lang="en-US" u="sng" dirty="0"/>
              <a:t>co-1</a:t>
            </a:r>
            <a:r>
              <a:rPr lang="en-US" dirty="0"/>
              <a:t>                                         </a:t>
            </a:r>
            <a:r>
              <a:rPr lang="en-US" u="sng" dirty="0"/>
              <a:t>co-2</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10" name="Content Placeholder 9">
            <a:extLst>
              <a:ext uri="{FF2B5EF4-FFF2-40B4-BE49-F238E27FC236}">
                <a16:creationId xmlns:a16="http://schemas.microsoft.com/office/drawing/2014/main" id="{380789A6-4D7F-05DC-82FE-DE482B5A9E0C}"/>
              </a:ext>
            </a:extLst>
          </p:cNvPr>
          <p:cNvPicPr>
            <a:picLocks noGrp="1" noChangeAspect="1"/>
          </p:cNvPicPr>
          <p:nvPr>
            <p:ph idx="1"/>
          </p:nvPr>
        </p:nvPicPr>
        <p:blipFill>
          <a:blip r:embed="rId2"/>
          <a:stretch>
            <a:fillRect/>
          </a:stretch>
        </p:blipFill>
        <p:spPr>
          <a:xfrm>
            <a:off x="925284" y="1576873"/>
            <a:ext cx="4523793" cy="1852128"/>
          </a:xfrm>
          <a:prstGeom prst="rect">
            <a:avLst/>
          </a:prstGeom>
        </p:spPr>
      </p:pic>
      <p:pic>
        <p:nvPicPr>
          <p:cNvPr id="12" name="Picture 11">
            <a:extLst>
              <a:ext uri="{FF2B5EF4-FFF2-40B4-BE49-F238E27FC236}">
                <a16:creationId xmlns:a16="http://schemas.microsoft.com/office/drawing/2014/main" id="{77D5C7F5-DA30-2214-684C-D0024141A760}"/>
              </a:ext>
            </a:extLst>
          </p:cNvPr>
          <p:cNvPicPr>
            <a:picLocks noChangeAspect="1"/>
          </p:cNvPicPr>
          <p:nvPr/>
        </p:nvPicPr>
        <p:blipFill>
          <a:blip r:embed="rId3"/>
          <a:stretch>
            <a:fillRect/>
          </a:stretch>
        </p:blipFill>
        <p:spPr>
          <a:xfrm>
            <a:off x="925284" y="3966611"/>
            <a:ext cx="4523794" cy="1852128"/>
          </a:xfrm>
          <a:prstGeom prst="rect">
            <a:avLst/>
          </a:prstGeom>
        </p:spPr>
      </p:pic>
      <p:pic>
        <p:nvPicPr>
          <p:cNvPr id="14" name="Picture 13">
            <a:extLst>
              <a:ext uri="{FF2B5EF4-FFF2-40B4-BE49-F238E27FC236}">
                <a16:creationId xmlns:a16="http://schemas.microsoft.com/office/drawing/2014/main" id="{6F5B56BA-60ED-0957-C879-0C39FDB4B4BA}"/>
              </a:ext>
            </a:extLst>
          </p:cNvPr>
          <p:cNvPicPr>
            <a:picLocks noChangeAspect="1"/>
          </p:cNvPicPr>
          <p:nvPr/>
        </p:nvPicPr>
        <p:blipFill>
          <a:blip r:embed="rId4"/>
          <a:stretch>
            <a:fillRect/>
          </a:stretch>
        </p:blipFill>
        <p:spPr>
          <a:xfrm>
            <a:off x="6587412" y="1576873"/>
            <a:ext cx="4679304" cy="1852127"/>
          </a:xfrm>
          <a:prstGeom prst="rect">
            <a:avLst/>
          </a:prstGeom>
        </p:spPr>
      </p:pic>
      <p:pic>
        <p:nvPicPr>
          <p:cNvPr id="16" name="Picture 15">
            <a:extLst>
              <a:ext uri="{FF2B5EF4-FFF2-40B4-BE49-F238E27FC236}">
                <a16:creationId xmlns:a16="http://schemas.microsoft.com/office/drawing/2014/main" id="{3CAC4499-FC7B-20BF-295F-4D4D1DEE8C7C}"/>
              </a:ext>
            </a:extLst>
          </p:cNvPr>
          <p:cNvPicPr>
            <a:picLocks noChangeAspect="1"/>
          </p:cNvPicPr>
          <p:nvPr/>
        </p:nvPicPr>
        <p:blipFill>
          <a:blip r:embed="rId5"/>
          <a:stretch>
            <a:fillRect/>
          </a:stretch>
        </p:blipFill>
        <p:spPr>
          <a:xfrm>
            <a:off x="6587412" y="3966611"/>
            <a:ext cx="4710404" cy="1852127"/>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F6113-0248-9BDF-1A12-3564BB4FA502}"/>
              </a:ext>
            </a:extLst>
          </p:cNvPr>
          <p:cNvSpPr>
            <a:spLocks noGrp="1"/>
          </p:cNvSpPr>
          <p:nvPr>
            <p:ph type="title"/>
          </p:nvPr>
        </p:nvSpPr>
        <p:spPr>
          <a:xfrm>
            <a:off x="838200" y="-485191"/>
            <a:ext cx="10515600" cy="45719"/>
          </a:xfrm>
        </p:spPr>
        <p:txBody>
          <a:bodyPr>
            <a:normAutofit fontScale="90000"/>
          </a:bodyPr>
          <a:lstStyle/>
          <a:p>
            <a:endParaRPr lang="en-IN" dirty="0"/>
          </a:p>
        </p:txBody>
      </p:sp>
      <p:sp>
        <p:nvSpPr>
          <p:cNvPr id="4" name="Date Placeholder 3">
            <a:extLst>
              <a:ext uri="{FF2B5EF4-FFF2-40B4-BE49-F238E27FC236}">
                <a16:creationId xmlns:a16="http://schemas.microsoft.com/office/drawing/2014/main" id="{01E7AF33-48E1-DF29-00F4-26D2DC5AED3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60165956-4312-FDDC-F142-3011B9FC288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67A5FEF4-1247-639B-4240-1C68543E2EF1}"/>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10" name="Content Placeholder 9">
            <a:extLst>
              <a:ext uri="{FF2B5EF4-FFF2-40B4-BE49-F238E27FC236}">
                <a16:creationId xmlns:a16="http://schemas.microsoft.com/office/drawing/2014/main" id="{70CAF6B1-C1DD-F1FC-62FC-4EDF3AFBE4E1}"/>
              </a:ext>
            </a:extLst>
          </p:cNvPr>
          <p:cNvSpPr>
            <a:spLocks noGrp="1"/>
          </p:cNvSpPr>
          <p:nvPr>
            <p:ph idx="1"/>
          </p:nvPr>
        </p:nvSpPr>
        <p:spPr>
          <a:xfrm>
            <a:off x="838200" y="855241"/>
            <a:ext cx="10515600" cy="4351338"/>
          </a:xfrm>
        </p:spPr>
        <p:txBody>
          <a:bodyPr/>
          <a:lstStyle/>
          <a:p>
            <a:r>
              <a:rPr lang="en-US" u="sng" dirty="0"/>
              <a:t>CO-3</a:t>
            </a:r>
            <a:r>
              <a:rPr lang="en-US" dirty="0"/>
              <a:t>                                                                                </a:t>
            </a:r>
            <a:r>
              <a:rPr lang="en-US" u="sng" dirty="0"/>
              <a:t>CO-4</a:t>
            </a:r>
            <a:endParaRPr lang="en-IN" u="sng" dirty="0"/>
          </a:p>
        </p:txBody>
      </p:sp>
      <p:pic>
        <p:nvPicPr>
          <p:cNvPr id="11" name="Picture 10">
            <a:extLst>
              <a:ext uri="{FF2B5EF4-FFF2-40B4-BE49-F238E27FC236}">
                <a16:creationId xmlns:a16="http://schemas.microsoft.com/office/drawing/2014/main" id="{A42B9D83-A349-0EB5-EB36-94A74187E783}"/>
              </a:ext>
            </a:extLst>
          </p:cNvPr>
          <p:cNvPicPr>
            <a:picLocks noChangeAspect="1"/>
          </p:cNvPicPr>
          <p:nvPr/>
        </p:nvPicPr>
        <p:blipFill>
          <a:blip r:embed="rId2"/>
          <a:stretch>
            <a:fillRect/>
          </a:stretch>
        </p:blipFill>
        <p:spPr>
          <a:xfrm>
            <a:off x="672036" y="1557732"/>
            <a:ext cx="5318217" cy="4106884"/>
          </a:xfrm>
          <a:prstGeom prst="rect">
            <a:avLst/>
          </a:prstGeom>
        </p:spPr>
      </p:pic>
      <p:pic>
        <p:nvPicPr>
          <p:cNvPr id="13" name="Picture 12">
            <a:extLst>
              <a:ext uri="{FF2B5EF4-FFF2-40B4-BE49-F238E27FC236}">
                <a16:creationId xmlns:a16="http://schemas.microsoft.com/office/drawing/2014/main" id="{BF386824-AE6C-2D5F-22C2-C13193F2BB0A}"/>
              </a:ext>
            </a:extLst>
          </p:cNvPr>
          <p:cNvPicPr>
            <a:picLocks noChangeAspect="1"/>
          </p:cNvPicPr>
          <p:nvPr/>
        </p:nvPicPr>
        <p:blipFill>
          <a:blip r:embed="rId3"/>
          <a:stretch>
            <a:fillRect/>
          </a:stretch>
        </p:blipFill>
        <p:spPr>
          <a:xfrm>
            <a:off x="6657320" y="1747696"/>
            <a:ext cx="4696480" cy="3225521"/>
          </a:xfrm>
          <a:prstGeom prst="rect">
            <a:avLst/>
          </a:prstGeom>
        </p:spPr>
      </p:pic>
    </p:spTree>
    <p:extLst>
      <p:ext uri="{BB962C8B-B14F-4D97-AF65-F5344CB8AC3E}">
        <p14:creationId xmlns:p14="http://schemas.microsoft.com/office/powerpoint/2010/main" val="1683561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0036F-7FD1-D09D-8969-D6C8A82BCDB9}"/>
              </a:ext>
            </a:extLst>
          </p:cNvPr>
          <p:cNvSpPr>
            <a:spLocks noGrp="1"/>
          </p:cNvSpPr>
          <p:nvPr>
            <p:ph type="title"/>
          </p:nvPr>
        </p:nvSpPr>
        <p:spPr>
          <a:xfrm>
            <a:off x="838200" y="-606490"/>
            <a:ext cx="10515600" cy="111968"/>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53CD27B3-8FCA-0F70-638B-5289F00DB486}"/>
              </a:ext>
            </a:extLst>
          </p:cNvPr>
          <p:cNvSpPr>
            <a:spLocks noGrp="1"/>
          </p:cNvSpPr>
          <p:nvPr>
            <p:ph idx="1"/>
          </p:nvPr>
        </p:nvSpPr>
        <p:spPr>
          <a:xfrm>
            <a:off x="838200" y="849086"/>
            <a:ext cx="10515600" cy="5327877"/>
          </a:xfrm>
        </p:spPr>
        <p:txBody>
          <a:bodyPr/>
          <a:lstStyle/>
          <a:p>
            <a:r>
              <a:rPr lang="en-US" dirty="0"/>
              <a:t>                </a:t>
            </a:r>
            <a:r>
              <a:rPr lang="en-US" u="sng" dirty="0"/>
              <a:t> CO-5 </a:t>
            </a:r>
            <a:r>
              <a:rPr lang="en-US" dirty="0"/>
              <a:t>                                                            </a:t>
            </a:r>
            <a:r>
              <a:rPr lang="en-US" u="sng" dirty="0"/>
              <a:t>CO-6</a:t>
            </a:r>
            <a:endParaRPr lang="en-IN" u="sng" dirty="0"/>
          </a:p>
        </p:txBody>
      </p:sp>
      <p:sp>
        <p:nvSpPr>
          <p:cNvPr id="4" name="Date Placeholder 3">
            <a:extLst>
              <a:ext uri="{FF2B5EF4-FFF2-40B4-BE49-F238E27FC236}">
                <a16:creationId xmlns:a16="http://schemas.microsoft.com/office/drawing/2014/main" id="{03E34809-40CC-46FE-087B-09E4729A8FEC}"/>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79A741D4-3E53-C146-B048-EDA0619E962D}"/>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592817B-7807-D1F9-97D2-308606D33F72}"/>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8" name="Picture 7">
            <a:extLst>
              <a:ext uri="{FF2B5EF4-FFF2-40B4-BE49-F238E27FC236}">
                <a16:creationId xmlns:a16="http://schemas.microsoft.com/office/drawing/2014/main" id="{A88A0EFB-D595-2C03-BCF9-298BB002FDAD}"/>
              </a:ext>
            </a:extLst>
          </p:cNvPr>
          <p:cNvPicPr>
            <a:picLocks noChangeAspect="1"/>
          </p:cNvPicPr>
          <p:nvPr/>
        </p:nvPicPr>
        <p:blipFill>
          <a:blip r:embed="rId2"/>
          <a:stretch>
            <a:fillRect/>
          </a:stretch>
        </p:blipFill>
        <p:spPr>
          <a:xfrm>
            <a:off x="718022" y="1490132"/>
            <a:ext cx="5636125" cy="4045784"/>
          </a:xfrm>
          <a:prstGeom prst="rect">
            <a:avLst/>
          </a:prstGeom>
        </p:spPr>
      </p:pic>
      <p:pic>
        <p:nvPicPr>
          <p:cNvPr id="10" name="Picture 9">
            <a:extLst>
              <a:ext uri="{FF2B5EF4-FFF2-40B4-BE49-F238E27FC236}">
                <a16:creationId xmlns:a16="http://schemas.microsoft.com/office/drawing/2014/main" id="{F667AFB7-83CB-215A-8BAB-5C087634A575}"/>
              </a:ext>
            </a:extLst>
          </p:cNvPr>
          <p:cNvPicPr>
            <a:picLocks noChangeAspect="1"/>
          </p:cNvPicPr>
          <p:nvPr/>
        </p:nvPicPr>
        <p:blipFill>
          <a:blip r:embed="rId3"/>
          <a:stretch>
            <a:fillRect/>
          </a:stretch>
        </p:blipFill>
        <p:spPr>
          <a:xfrm>
            <a:off x="6916254" y="1490132"/>
            <a:ext cx="5077534" cy="4045784"/>
          </a:xfrm>
          <a:prstGeom prst="rect">
            <a:avLst/>
          </a:prstGeom>
        </p:spPr>
      </p:pic>
    </p:spTree>
    <p:extLst>
      <p:ext uri="{BB962C8B-B14F-4D97-AF65-F5344CB8AC3E}">
        <p14:creationId xmlns:p14="http://schemas.microsoft.com/office/powerpoint/2010/main" val="3469575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92500" lnSpcReduction="10000"/>
          </a:bodyPr>
          <a:lstStyle/>
          <a:p>
            <a:r>
              <a:rPr lang="en-US" dirty="0"/>
              <a:t>Virtual Dine provides a </a:t>
            </a:r>
            <a:r>
              <a:rPr lang="en-US" b="1" dirty="0"/>
              <a:t>modern restaurant ordering solution</a:t>
            </a:r>
            <a:r>
              <a:rPr lang="en-US" dirty="0"/>
              <a:t> using web technologies.</a:t>
            </a:r>
          </a:p>
          <a:p>
            <a:r>
              <a:rPr lang="en-US" dirty="0"/>
              <a:t>Key achievements of the project:</a:t>
            </a:r>
          </a:p>
          <a:p>
            <a:r>
              <a:rPr lang="en-US" dirty="0"/>
              <a:t>Interactive and user-friendly interface.</a:t>
            </a:r>
          </a:p>
          <a:p>
            <a:r>
              <a:rPr lang="en-US" dirty="0"/>
              <a:t>Dynamic food menu system.</a:t>
            </a:r>
          </a:p>
          <a:p>
            <a:r>
              <a:rPr lang="en-US" dirty="0"/>
              <a:t>Real-time cart management.</a:t>
            </a:r>
          </a:p>
          <a:p>
            <a:r>
              <a:rPr lang="en-US" dirty="0"/>
              <a:t>Room selection feature.</a:t>
            </a:r>
          </a:p>
          <a:p>
            <a:r>
              <a:rPr lang="en-US" dirty="0"/>
              <a:t>Efficient order placement process.</a:t>
            </a:r>
          </a:p>
          <a:p>
            <a:r>
              <a:rPr lang="en-US" dirty="0"/>
              <a:t>The project demonstrates practical knowledge of </a:t>
            </a:r>
            <a:r>
              <a:rPr lang="en-US" b="1" dirty="0"/>
              <a:t>HTML, CSS, Java, DOM manipulation, and frontend development concepts</a:t>
            </a:r>
            <a:r>
              <a:rPr lang="en-US" dirty="0"/>
              <a:t>.</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3745</TotalTime>
  <Words>847</Words>
  <Application>Microsoft Office PowerPoint</Application>
  <PresentationFormat>Widescreen</PresentationFormat>
  <Paragraphs>154</Paragraphs>
  <Slides>14</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Calibri Light</vt:lpstr>
      <vt:lpstr>Office Theme</vt:lpstr>
      <vt:lpstr>Custom Design</vt:lpstr>
      <vt:lpstr>Title: Virtual Dine Restaurant Ordering Hub</vt:lpstr>
      <vt:lpstr>Abstract</vt:lpstr>
      <vt:lpstr>Existing System </vt:lpstr>
      <vt:lpstr>Proposed System</vt:lpstr>
      <vt:lpstr>System Architecture</vt:lpstr>
      <vt:lpstr>Project Modules</vt:lpstr>
      <vt:lpstr>PowerPoint Presentation</vt:lpstr>
      <vt:lpstr>Objectives</vt:lpstr>
      <vt:lpstr>Co’s Attainments - DSA</vt:lpstr>
      <vt:lpstr>Screenshots for DSA       co-1                                         co-2</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sonu9392327540@gmail.com</cp:lastModifiedBy>
  <cp:revision>54</cp:revision>
  <dcterms:created xsi:type="dcterms:W3CDTF">2022-05-20T10:20:31Z</dcterms:created>
  <dcterms:modified xsi:type="dcterms:W3CDTF">2026-03-12T08:51:41Z</dcterms:modified>
</cp:coreProperties>
</file>